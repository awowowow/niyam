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229ef44be34689" /><Relationship Type="http://schemas.openxmlformats.org/officeDocument/2006/relationships/extended-properties" Target="/docProps/app.xml" Id="R59cecbf58ea8427f" /><Relationship Type="http://schemas.openxmlformats.org/officeDocument/2006/relationships/officeDocument" Target="/ppt/presentation.xml" Id="R15dbccf3aad348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cd009615f84382"/>
  </p:sldMasterIdLst>
  <p:notesMasterIdLst>
    <p:notesMasterId xmlns:r="http://schemas.openxmlformats.org/officeDocument/2006/relationships" r:id="Rc6b27d0e3b9b44cc"/>
  </p:notesMasterIdLst>
  <p:sldIdLst>
    <p:sldId xmlns:r="http://schemas.openxmlformats.org/officeDocument/2006/relationships" id="256" r:id="R1915f51854c2478d"/>
    <p:sldId xmlns:r="http://schemas.openxmlformats.org/officeDocument/2006/relationships" id="257" r:id="Rdf228b18c1114682"/>
    <p:sldId xmlns:r="http://schemas.openxmlformats.org/officeDocument/2006/relationships" id="258" r:id="Ra57449caf1ca4b27"/>
    <p:sldId xmlns:r="http://schemas.openxmlformats.org/officeDocument/2006/relationships" id="259" r:id="R51b3d8344dc749c1"/>
    <p:sldId xmlns:r="http://schemas.openxmlformats.org/officeDocument/2006/relationships" id="260" r:id="R1aa6fd4d79ae471d"/>
    <p:sldId xmlns:r="http://schemas.openxmlformats.org/officeDocument/2006/relationships" id="261" r:id="Rcdcc719bfb244893"/>
    <p:sldId xmlns:r="http://schemas.openxmlformats.org/officeDocument/2006/relationships" id="262" r:id="R96b2b06442f3458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19ad99c1ca4d7f" /><Relationship Type="http://schemas.openxmlformats.org/officeDocument/2006/relationships/slideMaster" Target="/ppt/slideMasters/slideMaster1.xml" Id="R58cd009615f84382" /><Relationship Type="http://schemas.openxmlformats.org/officeDocument/2006/relationships/notesMaster" Target="/ppt/notesMasters/notesMaster1.xml" Id="Rc6b27d0e3b9b44cc" /><Relationship Type="http://schemas.openxmlformats.org/officeDocument/2006/relationships/presProps" Target="/ppt/presProps.xml" Id="R143aafcd8a7c4c55" /><Relationship Type="http://schemas.openxmlformats.org/officeDocument/2006/relationships/tableStyles" Target="/ppt/tableStyles.xml" Id="R73d02010972b4a7f" /><Relationship Type="http://schemas.openxmlformats.org/officeDocument/2006/relationships/slide" Target="/ppt/slides/slide1.xml" Id="R1915f51854c2478d" /><Relationship Type="http://schemas.openxmlformats.org/officeDocument/2006/relationships/slide" Target="/ppt/slides/slide2.xml" Id="Rdf228b18c1114682" /><Relationship Type="http://schemas.openxmlformats.org/officeDocument/2006/relationships/slide" Target="/ppt/slides/slide3.xml" Id="Ra57449caf1ca4b27" /><Relationship Type="http://schemas.openxmlformats.org/officeDocument/2006/relationships/slide" Target="/ppt/slides/slide4.xml" Id="R51b3d8344dc749c1" /><Relationship Type="http://schemas.openxmlformats.org/officeDocument/2006/relationships/slide" Target="/ppt/slides/slide5.xml" Id="R1aa6fd4d79ae471d" /><Relationship Type="http://schemas.openxmlformats.org/officeDocument/2006/relationships/slide" Target="/ppt/slides/slide6.xml" Id="Rcdcc719bfb244893" /><Relationship Type="http://schemas.openxmlformats.org/officeDocument/2006/relationships/slide" Target="/ppt/slides/slide7.xml" Id="R96b2b06442f345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d87d9540e54b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60fd8e24864df0" /><Relationship Type="http://schemas.openxmlformats.org/officeDocument/2006/relationships/notesMaster" Target="/ppt/notesMasters/notesMaster1.xml" Id="Rea797489f7e14a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7a77c84a4d46e7" /><Relationship Type="http://schemas.openxmlformats.org/officeDocument/2006/relationships/notesMaster" Target="/ppt/notesMasters/notesMaster1.xml" Id="R580005e2f31841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02706817a84a4d" /><Relationship Type="http://schemas.openxmlformats.org/officeDocument/2006/relationships/notesMaster" Target="/ppt/notesMasters/notesMaster1.xml" Id="R4bd4e5a338244f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4db12da380457e" /><Relationship Type="http://schemas.openxmlformats.org/officeDocument/2006/relationships/notesMaster" Target="/ppt/notesMasters/notesMaster1.xml" Id="R2dc88daa0e1845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3b5ee787e9454f" /><Relationship Type="http://schemas.openxmlformats.org/officeDocument/2006/relationships/notesMaster" Target="/ppt/notesMasters/notesMaster1.xml" Id="R07fb2760bb3e47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c414d0e47842a4" /><Relationship Type="http://schemas.openxmlformats.org/officeDocument/2006/relationships/notesMaster" Target="/ppt/notesMasters/notesMaster1.xml" Id="Rc1fdbc0d0fdc44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b5c4d4fcb444f8" /><Relationship Type="http://schemas.openxmlformats.org/officeDocument/2006/relationships/notesMaster" Target="/ppt/notesMasters/notesMaster1.xml" Id="Rf4b1dd4710094a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048cc1e85448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228968225b444d" /><Relationship Type="http://schemas.openxmlformats.org/officeDocument/2006/relationships/slideLayout" Target="/ppt/slideLayouts/slideLayout1.xml" Id="R2679409781c94d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79409781c94d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e6efa9eea4781" /><Relationship Type="http://schemas.openxmlformats.org/officeDocument/2006/relationships/image" Target="/ppt/media/image.png" Id="R2118e2b13914450b" /><Relationship Type="http://schemas.openxmlformats.org/officeDocument/2006/relationships/notesSlide" Target="/ppt/notesSlides/notesSlide1.xml" Id="R70adbbd868df47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d42d71a114773" /><Relationship Type="http://schemas.openxmlformats.org/officeDocument/2006/relationships/notesSlide" Target="/ppt/notesSlides/notesSlide2.xml" Id="R5035fb37022a4a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fb8425d954f30" /><Relationship Type="http://schemas.openxmlformats.org/officeDocument/2006/relationships/image" Target="/ppt/media/image2.png" Id="Re9201d01185d48fe" /><Relationship Type="http://schemas.openxmlformats.org/officeDocument/2006/relationships/notesSlide" Target="/ppt/notesSlides/notesSlide3.xml" Id="R2799e13935fd43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af25423e84de2" /><Relationship Type="http://schemas.openxmlformats.org/officeDocument/2006/relationships/notesSlide" Target="/ppt/notesSlides/notesSlide4.xml" Id="R691bd1ff12544a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914ced56b42b9" /><Relationship Type="http://schemas.openxmlformats.org/officeDocument/2006/relationships/notesSlide" Target="/ppt/notesSlides/notesSlide5.xml" Id="R6bb37b3cdbce4e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c9d66d4434a0e" /><Relationship Type="http://schemas.openxmlformats.org/officeDocument/2006/relationships/notesSlide" Target="/ppt/notesSlides/notesSlide6.xml" Id="Rb0c838864ea04d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dad0ecb4b4267" /><Relationship Type="http://schemas.openxmlformats.org/officeDocument/2006/relationships/notesSlide" Target="/ppt/notesSlides/notesSlide7.xml" Id="R15b4ee993a3644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image-backing">
            <a:extLst xmlns:a="http://schemas.openxmlformats.org/drawingml/2006/main">
              <a:ext uri="{FF2B5EF4-FFF2-40B4-BE49-F238E27FC236}">
                <a16:creationId xmlns:a16="http://schemas.microsoft.com/office/drawing/2014/main" id="{AA072F85-7CAF-4597-873E-AD1DEDC8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68447"/>
            <a:ext cx="5619750" cy="3835355"/>
          </a:xfrm>
          <a:prstGeom xmlns:a="http://schemas.openxmlformats.org/drawingml/2006/main" prst="roundRect">
            <a:avLst>
              <a:gd name="adj" fmla="val 135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9455B357-2E76-486E-B2EC-CF12DB0C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3810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NIYAM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4176435-CBDE-4D0B-BF38-DB9C5A1C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51435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0121F"/>
                </a:solidFill>
                <a:latin typeface="Helvetica Neue"/>
                <a:ea typeface="Helvetica Neue"/>
                <a:cs typeface="Helvetica Neue"/>
              </a:defRPr>
            </a:pPr>
            <a:r>
              <a:t>When policy and software disagree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3F9EAE4-28CD-42C6-8566-D9CC3DB3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1435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D6472"/>
                </a:solidFill>
                <a:latin typeface="Helvetica Neue"/>
                <a:ea typeface="Helvetica Neue"/>
                <a:cs typeface="Helvetica Neue"/>
              </a:defRPr>
            </a:pPr>
            <a:r>
              <a:t>Niyam repairs the decision code—and proves the fix before people approve it.</a:t>
            </a:r>
          </a:p>
        </p:txBody>
      </p:sp>
      <p:sp>
        <p:nvSpPr>
          <p:cNvPr id="5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266B80FE-7382-4AAF-8CB9-6BF44CF2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14900"/>
            <a:ext cx="1104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chain">
            <a:extLst xmlns:a="http://schemas.openxmlformats.org/drawingml/2006/main">
              <a:ext uri="{FF2B5EF4-FFF2-40B4-BE49-F238E27FC236}">
                <a16:creationId xmlns:a16="http://schemas.microsoft.com/office/drawing/2014/main" id="{AEBB1A29-1E19-44F0-B789-649CA8D0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5219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21F"/>
                </a:solidFill>
                <a:latin typeface="Helvetica Neue"/>
                <a:ea typeface="Helvetica Neue"/>
                <a:cs typeface="Helvetica Neue"/>
              </a:defRPr>
            </a:pPr>
            <a:r>
              <a:t>Appeal → cited policy → live repair → tests → two approvals → signed evidence</a:t>
            </a:r>
          </a:p>
        </p:txBody>
      </p:sp>
      <p:sp>
        <p:nvSpPr>
          <p:cNvPr id="7" name="cover-links">
            <a:extLst xmlns:a="http://schemas.openxmlformats.org/drawingml/2006/main">
              <a:ext uri="{FF2B5EF4-FFF2-40B4-BE49-F238E27FC236}">
                <a16:creationId xmlns:a16="http://schemas.microsoft.com/office/drawing/2014/main" id="{ED799028-7D36-4506-9CCC-BD87098E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552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472"/>
                </a:solidFill>
                <a:latin typeface="Helvetica Neue"/>
                <a:ea typeface="Helvetica Neue"/>
                <a:cs typeface="Helvetica Neue"/>
              </a:defRPr>
            </a:pPr>
            <a:r>
              <a:t>d3rre9ztdq52vx.cloudfront.net  ·  github.com/Awowowow/niyam</a:t>
            </a:r>
          </a:p>
        </p:txBody>
      </p:sp>
      <p:sp>
        <p:nvSpPr>
          <p:cNvPr id="8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F75DA66B-4D2E-4056-9529-51E39AAC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brand-1">
            <a:extLst xmlns:a="http://schemas.openxmlformats.org/drawingml/2006/main">
              <a:ext uri="{FF2B5EF4-FFF2-40B4-BE49-F238E27FC236}">
                <a16:creationId xmlns:a16="http://schemas.microsoft.com/office/drawing/2014/main" id="{91B11F8B-3881-4A48-99FB-004ACC6B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71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D6472"/>
                </a:solidFill>
                <a:latin typeface="Helvetica Neue"/>
                <a:ea typeface="Helvetica Neue"/>
                <a:cs typeface="Helvetica Neue"/>
              </a:defRPr>
            </a:pPr>
            <a:r>
              <a:t>NIYAM · HUMAN-APPROVED POLICY-TO-CODE VERIFICATION</a:t>
            </a:r>
          </a:p>
        </p:txBody>
      </p:sp>
      <p:sp>
        <p:nvSpPr>
          <p:cNvPr id="10" name="footer-number-1">
            <a:extLst xmlns:a="http://schemas.openxmlformats.org/drawingml/2006/main">
              <a:ext uri="{FF2B5EF4-FFF2-40B4-BE49-F238E27FC236}">
                <a16:creationId xmlns:a16="http://schemas.microsoft.com/office/drawing/2014/main" id="{AC2C0CAC-D084-4703-AD6F-9650CFB2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D6472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18e2b13914450b"/>
          <a:stretch xmlns:a="http://schemas.openxmlformats.org/drawingml/2006/main"/>
        </p:blipFill>
        <p:spPr>
          <a:xfrm xmlns:a="http://schemas.openxmlformats.org/drawingml/2006/main" flipH="0" flipV="0">
            <a:off x="6229350" y="1482747"/>
            <a:ext cx="5391150" cy="3606755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422826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0114FE79-83C8-44A3-AEF6-05EA3B80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0121F"/>
                </a:solidFill>
                <a:latin typeface="Helvetica Neue"/>
                <a:ea typeface="Helvetica Neue"/>
                <a:cs typeface="Helvetica Neue"/>
              </a:defRPr>
            </a:pPr>
            <a:r>
              <a:t>A silent code error becomes a human decision</a:t>
            </a:r>
          </a:p>
        </p:txBody>
      </p:sp>
      <p:sp>
        <p:nvSpPr>
          <p:cNvPr id="2" name="problem-intro">
            <a:extLst xmlns:a="http://schemas.openxmlformats.org/drawingml/2006/main">
              <a:ext uri="{FF2B5EF4-FFF2-40B4-BE49-F238E27FC236}">
                <a16:creationId xmlns:a16="http://schemas.microsoft.com/office/drawing/2014/main" id="{1FB39585-3054-495F-B6C4-7F8FAD67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0820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D6472"/>
                </a:solidFill>
                <a:latin typeface="Helvetica Neue"/>
                <a:ea typeface="Helvetica Neue"/>
                <a:cs typeface="Helvetica Neue"/>
              </a:defRPr>
            </a:pPr>
            <a:r>
              <a:t>The written scholarship policy allows a disability age exception. The running application forgot it—so a qualified applicant is rejected with confidence.</a:t>
            </a:r>
          </a:p>
        </p:txBody>
      </p:sp>
      <p:sp>
        <p:nvSpPr>
          <p:cNvPr id="3" name="policy-card">
            <a:extLst xmlns:a="http://schemas.openxmlformats.org/drawingml/2006/main">
              <a:ext uri="{FF2B5EF4-FFF2-40B4-BE49-F238E27FC236}">
                <a16:creationId xmlns:a16="http://schemas.microsoft.com/office/drawing/2014/main" id="{85053CB2-F1AC-4185-AE8B-2113029B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533400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E7F6EF"/>
          </a:solidFill>
          <a:ln xmlns:a="http://schemas.openxmlformats.org/drawingml/2006/main" w="9525">
            <a:solidFill>
              <a:srgbClr val="A9DCC4"/>
            </a:solidFill>
            <a:prstDash val="solid"/>
          </a:ln>
        </p:spPr>
      </p:sp>
      <p:sp>
        <p:nvSpPr>
          <p:cNvPr id="4" name="software-card">
            <a:extLst xmlns:a="http://schemas.openxmlformats.org/drawingml/2006/main">
              <a:ext uri="{FF2B5EF4-FFF2-40B4-BE49-F238E27FC236}">
                <a16:creationId xmlns:a16="http://schemas.microsoft.com/office/drawing/2014/main" id="{50B9AB65-AA92-4B40-A1E2-D6C6D8CB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66950"/>
            <a:ext cx="579120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BEDEA"/>
          </a:solidFill>
          <a:ln xmlns:a="http://schemas.openxmlformats.org/drawingml/2006/main" w="9525">
            <a:solidFill>
              <a:srgbClr val="E7B8B3"/>
            </a:solidFill>
            <a:prstDash val="solid"/>
          </a:ln>
        </p:spPr>
      </p:sp>
      <p:sp>
        <p:nvSpPr>
          <p:cNvPr id="5" name="policy-label">
            <a:extLst xmlns:a="http://schemas.openxmlformats.org/drawingml/2006/main">
              <a:ext uri="{FF2B5EF4-FFF2-40B4-BE49-F238E27FC236}">
                <a16:creationId xmlns:a16="http://schemas.microsoft.com/office/drawing/2014/main" id="{F1F76F8E-22AB-4FDC-B9D1-E7625C77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457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9D6A"/>
                </a:solidFill>
                <a:latin typeface="Helvetica Neue"/>
                <a:ea typeface="Helvetica Neue"/>
                <a:cs typeface="Helvetica Neue"/>
              </a:defRPr>
            </a:pPr>
            <a:r>
              <a:t>WHAT THE POLICY REQUIRES</a:t>
            </a:r>
          </a:p>
        </p:txBody>
      </p:sp>
      <p:sp>
        <p:nvSpPr>
          <p:cNvPr id="6" name="policy-outcome">
            <a:extLst xmlns:a="http://schemas.openxmlformats.org/drawingml/2006/main">
              <a:ext uri="{FF2B5EF4-FFF2-40B4-BE49-F238E27FC236}">
                <a16:creationId xmlns:a16="http://schemas.microsoft.com/office/drawing/2014/main" id="{645653AD-DD0B-41C8-87C6-E7EA7EAB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4572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2F9D6A"/>
                </a:solidFill>
                <a:latin typeface="Helvetica Neue"/>
                <a:ea typeface="Helvetica Neue"/>
                <a:cs typeface="Helvetica Neue"/>
              </a:defRPr>
            </a:pPr>
            <a:r>
              <a:t>ELIGIBLE</a:t>
            </a:r>
          </a:p>
        </p:txBody>
      </p:sp>
      <p:sp>
        <p:nvSpPr>
          <p:cNvPr id="7" name="policy-details">
            <a:extLst xmlns:a="http://schemas.openxmlformats.org/drawingml/2006/main">
              <a:ext uri="{FF2B5EF4-FFF2-40B4-BE49-F238E27FC236}">
                <a16:creationId xmlns:a16="http://schemas.microsoft.com/office/drawing/2014/main" id="{F74FF46D-9166-48EA-A34A-D30F5069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4572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21F"/>
                </a:solidFill>
                <a:latin typeface="Helvetica Neue"/>
                <a:ea typeface="Helvetica Neue"/>
                <a:cs typeface="Helvetica Neue"/>
              </a:defRPr>
            </a:pPr>
            <a:r>
              <a:t>Income ≤ INR 437,500
Standard age ≤ 27
Disability exception → age ≤ 31</a:t>
            </a:r>
          </a:p>
        </p:txBody>
      </p:sp>
      <p:sp>
        <p:nvSpPr>
          <p:cNvPr id="8" name="software-label">
            <a:extLst xmlns:a="http://schemas.openxmlformats.org/drawingml/2006/main">
              <a:ext uri="{FF2B5EF4-FFF2-40B4-BE49-F238E27FC236}">
                <a16:creationId xmlns:a16="http://schemas.microsoft.com/office/drawing/2014/main" id="{F0E454C7-692A-4961-B9F9-84066C27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717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95048"/>
                </a:solidFill>
                <a:latin typeface="Helvetica Neue"/>
                <a:ea typeface="Helvetica Neue"/>
                <a:cs typeface="Helvetica Neue"/>
              </a:defRPr>
            </a:pPr>
            <a:r>
              <a:t>WHAT THE APPLICATION ENFORCES</a:t>
            </a:r>
          </a:p>
        </p:txBody>
      </p:sp>
      <p:sp>
        <p:nvSpPr>
          <p:cNvPr id="9" name="software-outcome">
            <a:extLst xmlns:a="http://schemas.openxmlformats.org/drawingml/2006/main">
              <a:ext uri="{FF2B5EF4-FFF2-40B4-BE49-F238E27FC236}">
                <a16:creationId xmlns:a16="http://schemas.microsoft.com/office/drawing/2014/main" id="{67732469-B2FD-4A52-BC89-0D28BC8E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90850"/>
            <a:ext cx="4953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C95048"/>
                </a:solidFill>
                <a:latin typeface="Helvetica Neue"/>
                <a:ea typeface="Helvetica Neue"/>
                <a:cs typeface="Helvetica Neue"/>
              </a:defRPr>
            </a:pPr>
            <a:r>
              <a:t>INELIGIBLE</a:t>
            </a:r>
          </a:p>
        </p:txBody>
      </p:sp>
      <p:sp>
        <p:nvSpPr>
          <p:cNvPr id="10" name="software-details">
            <a:extLst xmlns:a="http://schemas.openxmlformats.org/drawingml/2006/main">
              <a:ext uri="{FF2B5EF4-FFF2-40B4-BE49-F238E27FC236}">
                <a16:creationId xmlns:a16="http://schemas.microsoft.com/office/drawing/2014/main" id="{BD6C0E04-2FAA-4153-938D-2FFEB322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48100"/>
            <a:ext cx="4953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21F"/>
                </a:solidFill>
                <a:latin typeface="Helvetica Neue"/>
                <a:ea typeface="Helvetica Neue"/>
                <a:cs typeface="Helvetica Neue"/>
              </a:defRPr>
            </a:pPr>
            <a:r>
              <a:t>Income ≤ INR 437,500</a:t>
            </a:r>
            <a:r>
              <a:t>
Age ≤ 25
Disability exception missing</a:t>
            </a:r>
          </a:p>
        </p:txBody>
      </p:sp>
      <p:sp>
        <p:nvSpPr>
          <p:cNvPr id="11" name="problem-consequence">
            <a:extLst xmlns:a="http://schemas.openxmlformats.org/drawingml/2006/main">
              <a:ext uri="{FF2B5EF4-FFF2-40B4-BE49-F238E27FC236}">
                <a16:creationId xmlns:a16="http://schemas.microsoft.com/office/drawing/2014/main" id="{89FAAF43-BD2A-44E3-955E-5B8DD8F3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066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21F"/>
                </a:solidFill>
                <a:latin typeface="Helvetica Neue"/>
                <a:ea typeface="Helvetica Neue"/>
                <a:cs typeface="Helvetica Neue"/>
              </a:defRPr>
            </a:pPr>
            <a:r>
              <a:t>Niyam traces that disagreement to the exact rule, person, and faulty line.</a:t>
            </a:r>
          </a:p>
        </p:txBody>
      </p:sp>
      <p:sp>
        <p:nvSpPr>
          <p:cNvPr id="12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C8D87014-4312-4B31-8820-9584A66E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CA827B61-199B-43BB-9F1A-391F3423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71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D6472"/>
                </a:solidFill>
                <a:latin typeface="Helvetica Neue"/>
                <a:ea typeface="Helvetica Neue"/>
                <a:cs typeface="Helvetica Neue"/>
              </a:defRPr>
            </a:pPr>
            <a:r>
              <a:t>NIYAM · HUMAN-APPROVED POLICY-TO-CODE VERIFICATION</a:t>
            </a:r>
          </a:p>
        </p:txBody>
      </p:sp>
      <p:sp>
        <p:nvSpPr>
          <p:cNvPr id="14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E417B565-15DF-4152-AAE7-ECF37007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D6472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056407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journey-title">
            <a:extLst xmlns:a="http://schemas.openxmlformats.org/drawingml/2006/main">
              <a:ext uri="{FF2B5EF4-FFF2-40B4-BE49-F238E27FC236}">
                <a16:creationId xmlns:a16="http://schemas.microsoft.com/office/drawing/2014/main" id="{709611A2-5126-4E1D-B959-332743AE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21F"/>
                </a:solidFill>
                <a:latin typeface="Helvetica Neue"/>
                <a:ea typeface="Helvetica Neue"/>
                <a:cs typeface="Helvetica Neue"/>
              </a:defRPr>
            </a:pPr>
            <a:r>
              <a:t>One visible chain turns rejection into verified evidence</a:t>
            </a:r>
          </a:p>
        </p:txBody>
      </p:sp>
      <p:sp>
        <p:nvSpPr>
          <p:cNvPr id="2" name="journey-subtitle">
            <a:extLst xmlns:a="http://schemas.openxmlformats.org/drawingml/2006/main">
              <a:ext uri="{FF2B5EF4-FFF2-40B4-BE49-F238E27FC236}">
                <a16:creationId xmlns:a16="http://schemas.microsoft.com/office/drawing/2014/main" id="{66D0B255-A041-494E-A3A2-CEEA994E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0858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2"/>
                </a:solidFill>
                <a:latin typeface="Helvetica Neue"/>
                <a:ea typeface="Helvetica Neue"/>
                <a:cs typeface="Helvetica Neue"/>
              </a:defRPr>
            </a:pPr>
            <a:r>
              <a:t>Every stage produces something the next stage must verify. Nothing jumps directly from an AI answer to production.</a:t>
            </a:r>
          </a:p>
        </p:txBody>
      </p:sp>
      <p:sp>
        <p:nvSpPr>
          <p:cNvPr id="3" name="journey-image-backing">
            <a:extLst xmlns:a="http://schemas.openxmlformats.org/drawingml/2006/main">
              <a:ext uri="{FF2B5EF4-FFF2-40B4-BE49-F238E27FC236}">
                <a16:creationId xmlns:a16="http://schemas.microsoft.com/office/drawing/2014/main" id="{C502E3F2-4A9D-4713-812C-05D87B5A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1650"/>
            <a:ext cx="1127760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F4088224-C583-4C1D-A31B-517FC884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1312E2BA-11D6-4398-9A81-02749DFD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71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D6472"/>
                </a:solidFill>
                <a:latin typeface="Helvetica Neue"/>
                <a:ea typeface="Helvetica Neue"/>
                <a:cs typeface="Helvetica Neue"/>
              </a:defRPr>
            </a:pPr>
            <a:r>
              <a:t>NIYAM · HUMAN-APPROVED POLICY-TO-CODE VERIFICATION</a:t>
            </a:r>
          </a:p>
        </p:txBody>
      </p:sp>
      <p:sp>
        <p:nvSpPr>
          <p:cNvPr id="6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E6450F8F-3BFA-480B-9DF7-700E4DE7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D6472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201d01185d48fe"/>
          <a:srcRect xmlns:a="http://schemas.openxmlformats.org/drawingml/2006/main" l="0" t="572" r="0" b="5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866900"/>
            <a:ext cx="11087100" cy="4152900"/>
          </a:xfrm>
          <a:prstGeom xmlns:a="http://schemas.openxmlformats.org/drawingml/2006/main" prst="roundRect">
            <a:avLst>
              <a:gd name="adj" fmla="val 2752"/>
            </a:avLst>
          </a:prstGeom>
        </p:spPr>
      </p:pic>
    </p:spTree>
    <p:extLst>
      <p:ext uri="{BB962C8B-B14F-4D97-AF65-F5344CB8AC3E}">
        <p14:creationId xmlns:p14="http://schemas.microsoft.com/office/powerpoint/2010/main" val="1202402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0EB612DD-2FCE-44E6-9CEB-1CFF58C1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025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121F"/>
                </a:solidFill>
                <a:latin typeface="Helvetica Neue"/>
                <a:ea typeface="Helvetica Neue"/>
                <a:cs typeface="Helvetica Neue"/>
              </a:defRPr>
            </a:pPr>
            <a:r>
              <a:t>Three systems share the work—and none can bypass the others</a:t>
            </a:r>
          </a:p>
        </p:txBody>
      </p:sp>
      <p:sp>
        <p:nvSpPr>
          <p:cNvPr id="2" name="architecture-subtitle">
            <a:extLst xmlns:a="http://schemas.openxmlformats.org/drawingml/2006/main">
              <a:ext uri="{FF2B5EF4-FFF2-40B4-BE49-F238E27FC236}">
                <a16:creationId xmlns:a16="http://schemas.microsoft.com/office/drawing/2014/main" id="{67E13AA4-0068-41CC-B6D0-F65E1E5B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08966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2"/>
                </a:solidFill>
                <a:latin typeface="Helvetica Neue"/>
                <a:ea typeface="Helvetica Neue"/>
                <a:cs typeface="Helvetica Neue"/>
              </a:defRPr>
            </a:pPr>
            <a:r>
              <a:t>AI handles messy language and source inspection. Repeatable code decides whether behavior is correct. People retain authority.</a:t>
            </a:r>
          </a:p>
        </p:txBody>
      </p:sp>
      <p:sp>
        <p:nvSpPr>
          <p:cNvPr id="3" name="architecture-panel-1">
            <a:extLst xmlns:a="http://schemas.openxmlformats.org/drawingml/2006/main">
              <a:ext uri="{FF2B5EF4-FFF2-40B4-BE49-F238E27FC236}">
                <a16:creationId xmlns:a16="http://schemas.microsoft.com/office/drawing/2014/main" id="{C7AD01D3-6629-45E3-8DC5-A9F9D744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3352800" cy="34290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architecture-panel-2">
            <a:extLst xmlns:a="http://schemas.openxmlformats.org/drawingml/2006/main">
              <a:ext uri="{FF2B5EF4-FFF2-40B4-BE49-F238E27FC236}">
                <a16:creationId xmlns:a16="http://schemas.microsoft.com/office/drawing/2014/main" id="{C17AA741-66D4-4AEC-9B73-9614A6BE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90750"/>
            <a:ext cx="3352800" cy="34290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" name="architecture-panel-3">
            <a:extLst xmlns:a="http://schemas.openxmlformats.org/drawingml/2006/main">
              <a:ext uri="{FF2B5EF4-FFF2-40B4-BE49-F238E27FC236}">
                <a16:creationId xmlns:a16="http://schemas.microsoft.com/office/drawing/2014/main" id="{8A4B06E9-7659-4ED6-A89E-3B9E0B8C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352800" cy="34290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6" name="architecture-number-1">
            <a:extLst xmlns:a="http://schemas.openxmlformats.org/drawingml/2006/main">
              <a:ext uri="{FF2B5EF4-FFF2-40B4-BE49-F238E27FC236}">
                <a16:creationId xmlns:a16="http://schemas.microsoft.com/office/drawing/2014/main" id="{6969E775-48F4-4DCF-B7F1-EAAA5158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66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7" name="architecture-heading-1">
            <a:extLst xmlns:a="http://schemas.openxmlformats.org/drawingml/2006/main">
              <a:ext uri="{FF2B5EF4-FFF2-40B4-BE49-F238E27FC236}">
                <a16:creationId xmlns:a16="http://schemas.microsoft.com/office/drawing/2014/main" id="{7C1EC441-B577-4BFC-A858-011E9C96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2762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462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21F"/>
                </a:solidFill>
                <a:latin typeface="Helvetica Neue"/>
                <a:ea typeface="Helvetica Neue"/>
                <a:cs typeface="Helvetica Neue"/>
              </a:defRPr>
            </a:pPr>
            <a:r>
              <a:t>AI reads and repairs</a:t>
            </a:r>
          </a:p>
        </p:txBody>
      </p:sp>
      <p:sp>
        <p:nvSpPr>
          <p:cNvPr id="8" name="architecture-body-1">
            <a:extLst xmlns:a="http://schemas.openxmlformats.org/drawingml/2006/main">
              <a:ext uri="{FF2B5EF4-FFF2-40B4-BE49-F238E27FC236}">
                <a16:creationId xmlns:a16="http://schemas.microsoft.com/office/drawing/2014/main" id="{43B99987-D6AC-456E-B367-325B36DF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27241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21F"/>
                </a:solidFill>
                <a:latin typeface="Helvetica Neue"/>
                <a:ea typeface="Helvetica Neue"/>
                <a:cs typeface="Helvetica Neue"/>
              </a:defRPr>
            </a:pPr>
            <a:r>
              <a:t>OpenAI gpt-oss-120b links policy values to source sentences. Qwen3 Coder proposes the smallest patch on an isolated branch.</a:t>
            </a:r>
          </a:p>
        </p:txBody>
      </p:sp>
      <p:sp>
        <p:nvSpPr>
          <p:cNvPr id="9" name="architecture-number-2">
            <a:extLst xmlns:a="http://schemas.openxmlformats.org/drawingml/2006/main">
              <a:ext uri="{FF2B5EF4-FFF2-40B4-BE49-F238E27FC236}">
                <a16:creationId xmlns:a16="http://schemas.microsoft.com/office/drawing/2014/main" id="{A7D94510-89BB-45B0-B35A-5FCCCE03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76500"/>
            <a:ext cx="66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0" name="architecture-heading-2">
            <a:extLst xmlns:a="http://schemas.openxmlformats.org/drawingml/2006/main">
              <a:ext uri="{FF2B5EF4-FFF2-40B4-BE49-F238E27FC236}">
                <a16:creationId xmlns:a16="http://schemas.microsoft.com/office/drawing/2014/main" id="{23C81D6F-396A-4466-A184-723DB397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86100"/>
            <a:ext cx="2762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21F"/>
                </a:solidFill>
                <a:latin typeface="Helvetica Neue"/>
                <a:ea typeface="Helvetica Neue"/>
                <a:cs typeface="Helvetica Neue"/>
              </a:defRPr>
            </a:pPr>
            <a:r>
              <a:t>Checks decide</a:t>
            </a:r>
          </a:p>
        </p:txBody>
      </p:sp>
      <p:sp>
        <p:nvSpPr>
          <p:cNvPr id="11" name="architecture-body-2">
            <a:extLst xmlns:a="http://schemas.openxmlformats.org/drawingml/2006/main">
              <a:ext uri="{FF2B5EF4-FFF2-40B4-BE49-F238E27FC236}">
                <a16:creationId xmlns:a16="http://schemas.microsoft.com/office/drawing/2014/main" id="{0674B73C-3FEC-42DF-8D35-A676815F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19550"/>
            <a:ext cx="27241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21F"/>
                </a:solidFill>
                <a:latin typeface="Helvetica Neue"/>
                <a:ea typeface="Helvetica Neue"/>
                <a:cs typeface="Helvetica Neue"/>
              </a:defRPr>
            </a:pPr>
            <a:r>
              <a:t>The rule engine reruns the applicant, existing tests, generated policy tests, and 112 boundary cases across every demonstrated rule path.</a:t>
            </a:r>
          </a:p>
        </p:txBody>
      </p:sp>
      <p:sp>
        <p:nvSpPr>
          <p:cNvPr id="12" name="architecture-number-3">
            <a:extLst xmlns:a="http://schemas.openxmlformats.org/drawingml/2006/main">
              <a:ext uri="{FF2B5EF4-FFF2-40B4-BE49-F238E27FC236}">
                <a16:creationId xmlns:a16="http://schemas.microsoft.com/office/drawing/2014/main" id="{2C4655A4-E2F5-48CF-9FC9-E5F2F4FB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66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3" name="architecture-heading-3">
            <a:extLst xmlns:a="http://schemas.openxmlformats.org/drawingml/2006/main">
              <a:ext uri="{FF2B5EF4-FFF2-40B4-BE49-F238E27FC236}">
                <a16:creationId xmlns:a16="http://schemas.microsoft.com/office/drawing/2014/main" id="{909E1A77-5121-4422-9886-6132D511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86100"/>
            <a:ext cx="2762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21F"/>
                </a:solidFill>
                <a:latin typeface="Helvetica Neue"/>
                <a:ea typeface="Helvetica Neue"/>
                <a:cs typeface="Helvetica Neue"/>
              </a:defRPr>
            </a:pPr>
            <a:r>
              <a:t>People authorize</a:t>
            </a:r>
          </a:p>
        </p:txBody>
      </p:sp>
      <p:sp>
        <p:nvSpPr>
          <p:cNvPr id="14" name="architecture-body-3">
            <a:extLst xmlns:a="http://schemas.openxmlformats.org/drawingml/2006/main">
              <a:ext uri="{FF2B5EF4-FFF2-40B4-BE49-F238E27FC236}">
                <a16:creationId xmlns:a16="http://schemas.microsoft.com/office/drawing/2014/main" id="{E506A870-7778-4BF9-A685-D73757D1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19550"/>
            <a:ext cx="27241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21F"/>
                </a:solidFill>
                <a:latin typeface="Helvetica Neue"/>
                <a:ea typeface="Helvetica Neue"/>
                <a:cs typeface="Helvetica Neue"/>
              </a:defRPr>
            </a:pPr>
            <a:r>
              <a:t>A policy owner approves meaning. An engineer approves code. Only then can Niyam sign evidence or open a GitHub code review.</a:t>
            </a:r>
          </a:p>
        </p:txBody>
      </p:sp>
      <p:sp>
        <p:nvSpPr>
          <p:cNvPr id="15" name="architecture-stack">
            <a:extLst xmlns:a="http://schemas.openxmlformats.org/drawingml/2006/main">
              <a:ext uri="{FF2B5EF4-FFF2-40B4-BE49-F238E27FC236}">
                <a16:creationId xmlns:a16="http://schemas.microsoft.com/office/drawing/2014/main" id="{E915271C-1F02-4E52-BF84-A1720F90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1076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D6472"/>
                </a:solidFill>
                <a:latin typeface="Helvetica Neue"/>
                <a:ea typeface="Helvetica Neue"/>
                <a:cs typeface="Helvetica Neue"/>
              </a:defRPr>
            </a:pPr>
            <a:r>
              <a:t>Next.js + NestJS + Python verifier · Amazon Bedrock · AWS ECS/Fargate · Ed25519 evidence</a:t>
            </a:r>
          </a:p>
        </p:txBody>
      </p:sp>
      <p:sp>
        <p:nvSpPr>
          <p:cNvPr id="16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E1D0A7C0-A40F-408F-87C5-C185DB6E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FCB861EC-05E5-4ABD-AFB2-60A54B1E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71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D6472"/>
                </a:solidFill>
                <a:latin typeface="Helvetica Neue"/>
                <a:ea typeface="Helvetica Neue"/>
                <a:cs typeface="Helvetica Neue"/>
              </a:defRPr>
            </a:pPr>
            <a:r>
              <a:t>NIYAM · HUMAN-APPROVED POLICY-TO-CODE VERIFICATION</a:t>
            </a:r>
          </a:p>
        </p:txBody>
      </p:sp>
      <p:sp>
        <p:nvSpPr>
          <p:cNvPr id="18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12B3B37B-DA43-40F3-AC7B-528DC036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D6472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103725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afety-title">
            <a:extLst xmlns:a="http://schemas.openxmlformats.org/drawingml/2006/main">
              <a:ext uri="{FF2B5EF4-FFF2-40B4-BE49-F238E27FC236}">
                <a16:creationId xmlns:a16="http://schemas.microsoft.com/office/drawing/2014/main" id="{E46A4C2C-4E1E-41C7-8536-A6F73A93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0121F"/>
                </a:solidFill>
                <a:latin typeface="Helvetica Neue"/>
                <a:ea typeface="Helvetica Neue"/>
                <a:cs typeface="Helvetica Neue"/>
              </a:defRPr>
            </a:pPr>
            <a:r>
              <a:t>AI is essential—and boxed in by hard gates</a:t>
            </a:r>
          </a:p>
        </p:txBody>
      </p:sp>
      <p:sp>
        <p:nvSpPr>
          <p:cNvPr id="2" name="safety-intro">
            <a:extLst xmlns:a="http://schemas.openxmlformats.org/drawingml/2006/main">
              <a:ext uri="{FF2B5EF4-FFF2-40B4-BE49-F238E27FC236}">
                <a16:creationId xmlns:a16="http://schemas.microsoft.com/office/drawing/2014/main" id="{852EE9F7-D564-4D2A-8ABC-C05B8235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07061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2"/>
                </a:solidFill>
                <a:latin typeface="Helvetica Neue"/>
                <a:ea typeface="Helvetica Neue"/>
                <a:cs typeface="Helvetica Neue"/>
              </a:defRPr>
            </a:pPr>
            <a:r>
              <a:t>Niyam uses AI where fixed forms fail, then surrounds it with rules that are easy for judges, engineers, and policy owners to audit.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7503D909-93F1-4067-AAB2-189725A3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91092FC5-909E-488A-9F2A-49498D3E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71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D6472"/>
                </a:solidFill>
                <a:latin typeface="Helvetica Neue"/>
                <a:ea typeface="Helvetica Neue"/>
                <a:cs typeface="Helvetica Neue"/>
              </a:defRPr>
            </a:pPr>
            <a:r>
              <a:t>NIYAM · HUMAN-APPROVED POLICY-TO-CODE VERIFICATION</a:t>
            </a:r>
          </a:p>
        </p:txBody>
      </p:sp>
      <p:sp>
        <p:nvSpPr>
          <p:cNvPr id="5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858D1D4A-AD0C-498F-A29C-755EA7C1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D6472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6" name="safety-panel-1">
            <a:extLst xmlns:a="http://schemas.openxmlformats.org/drawingml/2006/main">
              <a:ext uri="{FF2B5EF4-FFF2-40B4-BE49-F238E27FC236}">
                <a16:creationId xmlns:a16="http://schemas.microsoft.com/office/drawing/2014/main" id="{AF10C6A8-60F9-4D60-A8D9-BF8EE117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51816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7" name="safety-number-1">
            <a:extLst xmlns:a="http://schemas.openxmlformats.org/drawingml/2006/main">
              <a:ext uri="{FF2B5EF4-FFF2-40B4-BE49-F238E27FC236}">
                <a16:creationId xmlns:a16="http://schemas.microsoft.com/office/drawing/2014/main" id="{6F43697F-3FF3-4A86-8A5A-FBC892FC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47925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8" name="safety-heading-1">
            <a:extLst xmlns:a="http://schemas.openxmlformats.org/drawingml/2006/main">
              <a:ext uri="{FF2B5EF4-FFF2-40B4-BE49-F238E27FC236}">
                <a16:creationId xmlns:a16="http://schemas.microsoft.com/office/drawing/2014/main" id="{6C9C2E10-37FA-48E8-BBEA-7D93D822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19350"/>
            <a:ext cx="3943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21F"/>
                </a:solidFill>
                <a:latin typeface="Helvetica Neue"/>
                <a:ea typeface="Helvetica Neue"/>
                <a:cs typeface="Helvetica Neue"/>
              </a:defRPr>
            </a:pPr>
            <a:r>
              <a:t>Every rule cites its source</a:t>
            </a:r>
          </a:p>
        </p:txBody>
      </p:sp>
      <p:sp>
        <p:nvSpPr>
          <p:cNvPr id="9" name="safety-body-1">
            <a:extLst xmlns:a="http://schemas.openxmlformats.org/drawingml/2006/main">
              <a:ext uri="{FF2B5EF4-FFF2-40B4-BE49-F238E27FC236}">
                <a16:creationId xmlns:a16="http://schemas.microsoft.com/office/drawing/2014/main" id="{F42F74ED-59D9-444B-BE5A-AF135219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45910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472"/>
                </a:solidFill>
                <a:latin typeface="Helvetica Neue"/>
                <a:ea typeface="Helvetica Neue"/>
                <a:cs typeface="Helvetica Neue"/>
              </a:defRPr>
            </a:pPr>
            <a:r>
              <a:t>The AI cannot invent a threshold: each extracted value must point back to submitted policy text.</a:t>
            </a:r>
          </a:p>
        </p:txBody>
      </p:sp>
      <p:sp>
        <p:nvSpPr>
          <p:cNvPr id="10" name="safety-panel-2">
            <a:extLst xmlns:a="http://schemas.openxmlformats.org/drawingml/2006/main">
              <a:ext uri="{FF2B5EF4-FFF2-40B4-BE49-F238E27FC236}">
                <a16:creationId xmlns:a16="http://schemas.microsoft.com/office/drawing/2014/main" id="{E83FC40E-893D-4390-8642-C4A393DE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51816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1" name="safety-number-2">
            <a:extLst xmlns:a="http://schemas.openxmlformats.org/drawingml/2006/main">
              <a:ext uri="{FF2B5EF4-FFF2-40B4-BE49-F238E27FC236}">
                <a16:creationId xmlns:a16="http://schemas.microsoft.com/office/drawing/2014/main" id="{9F2293DA-F64A-48A4-94D6-0A9F1E3D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47925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2" name="safety-heading-2">
            <a:extLst xmlns:a="http://schemas.openxmlformats.org/drawingml/2006/main">
              <a:ext uri="{FF2B5EF4-FFF2-40B4-BE49-F238E27FC236}">
                <a16:creationId xmlns:a16="http://schemas.microsoft.com/office/drawing/2014/main" id="{E19C1D47-5A88-49C3-A678-5FF70DA5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19350"/>
            <a:ext cx="3943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21F"/>
                </a:solidFill>
                <a:latin typeface="Helvetica Neue"/>
                <a:ea typeface="Helvetica Neue"/>
                <a:cs typeface="Helvetica Neue"/>
              </a:defRPr>
            </a:pPr>
            <a:r>
              <a:t>Ambiguity stops the workflow</a:t>
            </a:r>
          </a:p>
        </p:txBody>
      </p:sp>
      <p:sp>
        <p:nvSpPr>
          <p:cNvPr id="13" name="safety-body-2">
            <a:extLst xmlns:a="http://schemas.openxmlformats.org/drawingml/2006/main">
              <a:ext uri="{FF2B5EF4-FFF2-40B4-BE49-F238E27FC236}">
                <a16:creationId xmlns:a16="http://schemas.microsoft.com/office/drawing/2014/main" id="{FC4D6ECB-1F01-41D0-B820-BA08CB6E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52750"/>
            <a:ext cx="45910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472"/>
                </a:solidFill>
                <a:latin typeface="Helvetica Neue"/>
                <a:ea typeface="Helvetica Neue"/>
                <a:cs typeface="Helvetica Neue"/>
              </a:defRPr>
            </a:pPr>
            <a:r>
              <a:t>Missing, conflicting, exclusive, unsupported, or low-confidence language returns to a person.</a:t>
            </a:r>
          </a:p>
        </p:txBody>
      </p:sp>
      <p:sp>
        <p:nvSpPr>
          <p:cNvPr id="14" name="safety-panel-3">
            <a:extLst xmlns:a="http://schemas.openxmlformats.org/drawingml/2006/main">
              <a:ext uri="{FF2B5EF4-FFF2-40B4-BE49-F238E27FC236}">
                <a16:creationId xmlns:a16="http://schemas.microsoft.com/office/drawing/2014/main" id="{0F3F6A27-4251-4B4B-B11F-CF5DD28A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51816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5" name="safety-number-3">
            <a:extLst xmlns:a="http://schemas.openxmlformats.org/drawingml/2006/main">
              <a:ext uri="{FF2B5EF4-FFF2-40B4-BE49-F238E27FC236}">
                <a16:creationId xmlns:a16="http://schemas.microsoft.com/office/drawing/2014/main" id="{CD665DEC-EA31-4C80-B0D9-01DCBE5E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67225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6" name="safety-heading-3">
            <a:extLst xmlns:a="http://schemas.openxmlformats.org/drawingml/2006/main">
              <a:ext uri="{FF2B5EF4-FFF2-40B4-BE49-F238E27FC236}">
                <a16:creationId xmlns:a16="http://schemas.microsoft.com/office/drawing/2014/main" id="{0779D6EB-12A4-4872-A620-592DD124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38650"/>
            <a:ext cx="3943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21F"/>
                </a:solidFill>
                <a:latin typeface="Helvetica Neue"/>
                <a:ea typeface="Helvetica Neue"/>
                <a:cs typeface="Helvetica Neue"/>
              </a:defRPr>
            </a:pPr>
            <a:r>
              <a:t>The original code stays untouched</a:t>
            </a:r>
          </a:p>
        </p:txBody>
      </p:sp>
      <p:sp>
        <p:nvSpPr>
          <p:cNvPr id="17" name="safety-body-3">
            <a:extLst xmlns:a="http://schemas.openxmlformats.org/drawingml/2006/main">
              <a:ext uri="{FF2B5EF4-FFF2-40B4-BE49-F238E27FC236}">
                <a16:creationId xmlns:a16="http://schemas.microsoft.com/office/drawing/2014/main" id="{70350BAE-46D7-41DA-975E-4C1E5D1B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45910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472"/>
                </a:solidFill>
                <a:latin typeface="Helvetica Neue"/>
                <a:ea typeface="Helvetica Neue"/>
                <a:cs typeface="Helvetica Neue"/>
              </a:defRPr>
            </a:pPr>
            <a:r>
              <a:t>Repair happens in an isolated copy with a real diff, commit, build, and application tests.</a:t>
            </a:r>
          </a:p>
        </p:txBody>
      </p:sp>
      <p:sp>
        <p:nvSpPr>
          <p:cNvPr id="18" name="safety-panel-4">
            <a:extLst xmlns:a="http://schemas.openxmlformats.org/drawingml/2006/main">
              <a:ext uri="{FF2B5EF4-FFF2-40B4-BE49-F238E27FC236}">
                <a16:creationId xmlns:a16="http://schemas.microsoft.com/office/drawing/2014/main" id="{3584FDBF-DD6A-47A3-BCAB-4A585267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29100"/>
            <a:ext cx="51816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9" name="safety-number-4">
            <a:extLst xmlns:a="http://schemas.openxmlformats.org/drawingml/2006/main">
              <a:ext uri="{FF2B5EF4-FFF2-40B4-BE49-F238E27FC236}">
                <a16:creationId xmlns:a16="http://schemas.microsoft.com/office/drawing/2014/main" id="{F363DD77-02C8-40D4-871D-F12757E2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67225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0" name="safety-heading-4">
            <a:extLst xmlns:a="http://schemas.openxmlformats.org/drawingml/2006/main">
              <a:ext uri="{FF2B5EF4-FFF2-40B4-BE49-F238E27FC236}">
                <a16:creationId xmlns:a16="http://schemas.microsoft.com/office/drawing/2014/main" id="{B5EF5E5D-3E0F-4ACB-A838-D324703C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38650"/>
            <a:ext cx="3943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21F"/>
                </a:solidFill>
                <a:latin typeface="Helvetica Neue"/>
                <a:ea typeface="Helvetica Neue"/>
                <a:cs typeface="Helvetica Neue"/>
              </a:defRPr>
            </a:pPr>
            <a:r>
              <a:t>Nothing merges automatically</a:t>
            </a:r>
          </a:p>
        </p:txBody>
      </p:sp>
      <p:sp>
        <p:nvSpPr>
          <p:cNvPr id="21" name="safety-body-4">
            <a:extLst xmlns:a="http://schemas.openxmlformats.org/drawingml/2006/main">
              <a:ext uri="{FF2B5EF4-FFF2-40B4-BE49-F238E27FC236}">
                <a16:creationId xmlns:a16="http://schemas.microsoft.com/office/drawing/2014/main" id="{F34EA6D3-8C73-4132-BC78-80AAF613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72050"/>
            <a:ext cx="45910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472"/>
                </a:solidFill>
                <a:latin typeface="Helvetica Neue"/>
                <a:ea typeface="Helvetica Neue"/>
                <a:cs typeface="Helvetica Neue"/>
              </a:defRPr>
            </a:pPr>
            <a:r>
              <a:t>Policy owner and engineer approvals are mandatory before signed evidence or code review.</a:t>
            </a:r>
          </a:p>
        </p:txBody>
      </p:sp>
    </p:spTree>
    <p:extLst>
      <p:ext uri="{BB962C8B-B14F-4D97-AF65-F5344CB8AC3E}">
        <p14:creationId xmlns:p14="http://schemas.microsoft.com/office/powerpoint/2010/main" val="2882424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liability-title">
            <a:extLst xmlns:a="http://schemas.openxmlformats.org/drawingml/2006/main">
              <a:ext uri="{FF2B5EF4-FFF2-40B4-BE49-F238E27FC236}">
                <a16:creationId xmlns:a16="http://schemas.microsoft.com/office/drawing/2014/main" id="{D824947E-CF77-48DC-83C5-E065DB32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0121F"/>
                </a:solidFill>
                <a:latin typeface="Helvetica Neue"/>
                <a:ea typeface="Helvetica Neue"/>
                <a:cs typeface="Helvetica Neue"/>
              </a:defRPr>
            </a:pPr>
            <a:r>
              <a:t>The judge build has already survived repeat use</a:t>
            </a:r>
          </a:p>
        </p:txBody>
      </p:sp>
      <p:sp>
        <p:nvSpPr>
          <p:cNvPr id="2" name="reliability-intro">
            <a:extLst xmlns:a="http://schemas.openxmlformats.org/drawingml/2006/main">
              <a:ext uri="{FF2B5EF4-FFF2-40B4-BE49-F238E27FC236}">
                <a16:creationId xmlns:a16="http://schemas.microsoft.com/office/drawing/2014/main" id="{500A9127-3800-440F-8A54-CB2EB940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0858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2"/>
                </a:solidFill>
                <a:latin typeface="Helvetica Neue"/>
                <a:ea typeface="Helvetica Neue"/>
                <a:cs typeface="Helvetica Neue"/>
              </a:defRPr>
            </a:pPr>
            <a:r>
              <a:t>Production AWS build · live model calls · real Node repair · verified signature · zero browser warnings or errors across the five-flow rehearsal</a:t>
            </a:r>
          </a:p>
        </p:txBody>
      </p:sp>
      <p:sp>
        <p:nvSpPr>
          <p:cNvPr id="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CCF32B26-6E99-4773-A032-73295527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brand-6">
            <a:extLst xmlns:a="http://schemas.openxmlformats.org/drawingml/2006/main">
              <a:ext uri="{FF2B5EF4-FFF2-40B4-BE49-F238E27FC236}">
                <a16:creationId xmlns:a16="http://schemas.microsoft.com/office/drawing/2014/main" id="{C991A18F-6640-4A34-A554-5E6348CA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71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D6472"/>
                </a:solidFill>
                <a:latin typeface="Helvetica Neue"/>
                <a:ea typeface="Helvetica Neue"/>
                <a:cs typeface="Helvetica Neue"/>
              </a:defRPr>
            </a:pPr>
            <a:r>
              <a:t>NIYAM · HUMAN-APPROVED POLICY-TO-CODE VERIFICATION</a:t>
            </a:r>
          </a:p>
        </p:txBody>
      </p:sp>
      <p:sp>
        <p:nvSpPr>
          <p:cNvPr id="5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7A030B19-8027-44BA-84F3-51BA7C2E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D6472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6" name="reliability-panel-1">
            <a:extLst xmlns:a="http://schemas.openxmlformats.org/drawingml/2006/main">
              <a:ext uri="{FF2B5EF4-FFF2-40B4-BE49-F238E27FC236}">
                <a16:creationId xmlns:a16="http://schemas.microsoft.com/office/drawing/2014/main" id="{5F288B53-CE6F-4D94-82FB-371E3598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95550"/>
            <a:ext cx="335280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7" name="reliability-stat-1">
            <a:extLst xmlns:a="http://schemas.openxmlformats.org/drawingml/2006/main">
              <a:ext uri="{FF2B5EF4-FFF2-40B4-BE49-F238E27FC236}">
                <a16:creationId xmlns:a16="http://schemas.microsoft.com/office/drawing/2014/main" id="{86CB2C5B-24B4-45A6-872E-7E471543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7241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0121F"/>
                </a:solidFill>
                <a:latin typeface="Helvetica Neue"/>
                <a:ea typeface="Helvetica Neue"/>
                <a:cs typeface="Helvetica Neue"/>
              </a:defRPr>
            </a:pPr>
            <a:r>
              <a:t>12/12</a:t>
            </a:r>
          </a:p>
        </p:txBody>
      </p:sp>
      <p:sp>
        <p:nvSpPr>
          <p:cNvPr id="8" name="reliability-rule-1">
            <a:extLst xmlns:a="http://schemas.openxmlformats.org/drawingml/2006/main">
              <a:ext uri="{FF2B5EF4-FFF2-40B4-BE49-F238E27FC236}">
                <a16:creationId xmlns:a16="http://schemas.microsoft.com/office/drawing/2014/main" id="{D96EC5B0-CD8A-49FC-82AC-BDB5F7CF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liability-label-1">
            <a:extLst xmlns:a="http://schemas.openxmlformats.org/drawingml/2006/main">
              <a:ext uri="{FF2B5EF4-FFF2-40B4-BE49-F238E27FC236}">
                <a16:creationId xmlns:a16="http://schemas.microsoft.com/office/drawing/2014/main" id="{EBA8F060-4EBD-44C4-B16A-427FA5D6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27241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472"/>
                </a:solidFill>
                <a:latin typeface="Helvetica Neue"/>
                <a:ea typeface="Helvetica Neue"/>
                <a:cs typeface="Helvetica Neue"/>
              </a:defRPr>
            </a:pPr>
            <a:r>
              <a:t>live-AI reliability cases succeeded
10.04 s mean · 17 Jul 2026</a:t>
            </a:r>
          </a:p>
        </p:txBody>
      </p:sp>
      <p:sp>
        <p:nvSpPr>
          <p:cNvPr id="10" name="reliability-panel-2">
            <a:extLst xmlns:a="http://schemas.openxmlformats.org/drawingml/2006/main">
              <a:ext uri="{FF2B5EF4-FFF2-40B4-BE49-F238E27FC236}">
                <a16:creationId xmlns:a16="http://schemas.microsoft.com/office/drawing/2014/main" id="{D71850A0-ADDF-4484-8A2F-F76FFEF3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95550"/>
            <a:ext cx="335280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1" name="reliability-stat-2">
            <a:extLst xmlns:a="http://schemas.openxmlformats.org/drawingml/2006/main">
              <a:ext uri="{FF2B5EF4-FFF2-40B4-BE49-F238E27FC236}">
                <a16:creationId xmlns:a16="http://schemas.microsoft.com/office/drawing/2014/main" id="{D51C19A5-FA27-49C6-ACA5-A144FDA0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27241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10/10</a:t>
            </a:r>
          </a:p>
        </p:txBody>
      </p:sp>
      <p:sp>
        <p:nvSpPr>
          <p:cNvPr id="12" name="reliability-rule-2">
            <a:extLst xmlns:a="http://schemas.openxmlformats.org/drawingml/2006/main">
              <a:ext uri="{FF2B5EF4-FFF2-40B4-BE49-F238E27FC236}">
                <a16:creationId xmlns:a16="http://schemas.microsoft.com/office/drawing/2014/main" id="{B28F0D18-F1C1-40B7-B53A-A1B7F1FF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338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liability-label-2">
            <a:extLst xmlns:a="http://schemas.openxmlformats.org/drawingml/2006/main">
              <a:ext uri="{FF2B5EF4-FFF2-40B4-BE49-F238E27FC236}">
                <a16:creationId xmlns:a16="http://schemas.microsoft.com/office/drawing/2014/main" id="{64432E0F-0BC5-472B-8581-ACFD89C7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57700"/>
            <a:ext cx="27241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472"/>
                </a:solidFill>
                <a:latin typeface="Helvetica Neue"/>
                <a:ea typeface="Helvetica Neue"/>
                <a:cs typeface="Helvetica Neue"/>
              </a:defRPr>
            </a:pPr>
            <a:r>
              <a:t>AI/status checks resolved
≤ 1.2 s · 19 Jul 2026</a:t>
            </a:r>
          </a:p>
        </p:txBody>
      </p:sp>
      <p:sp>
        <p:nvSpPr>
          <p:cNvPr id="14" name="reliability-panel-3">
            <a:extLst xmlns:a="http://schemas.openxmlformats.org/drawingml/2006/main">
              <a:ext uri="{FF2B5EF4-FFF2-40B4-BE49-F238E27FC236}">
                <a16:creationId xmlns:a16="http://schemas.microsoft.com/office/drawing/2014/main" id="{FE6FE608-C36B-4DEF-B631-42B84CC1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95550"/>
            <a:ext cx="335280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5" name="reliability-stat-3">
            <a:extLst xmlns:a="http://schemas.openxmlformats.org/drawingml/2006/main">
              <a:ext uri="{FF2B5EF4-FFF2-40B4-BE49-F238E27FC236}">
                <a16:creationId xmlns:a16="http://schemas.microsoft.com/office/drawing/2014/main" id="{7F3E304A-8511-4093-B198-1F22BAAA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28950"/>
            <a:ext cx="27241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0121F"/>
                </a:solidFill>
                <a:latin typeface="Helvetica Neue"/>
                <a:ea typeface="Helvetica Neue"/>
                <a:cs typeface="Helvetica Neue"/>
              </a:defRPr>
            </a:pPr>
            <a:r>
              <a:t>5/5</a:t>
            </a:r>
          </a:p>
        </p:txBody>
      </p:sp>
      <p:sp>
        <p:nvSpPr>
          <p:cNvPr id="16" name="reliability-rule-3">
            <a:extLst xmlns:a="http://schemas.openxmlformats.org/drawingml/2006/main">
              <a:ext uri="{FF2B5EF4-FFF2-40B4-BE49-F238E27FC236}">
                <a16:creationId xmlns:a16="http://schemas.microsoft.com/office/drawing/2014/main" id="{BF4C3366-C89D-4E45-840D-2B52A302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338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liability-label-3">
            <a:extLst xmlns:a="http://schemas.openxmlformats.org/drawingml/2006/main">
              <a:ext uri="{FF2B5EF4-FFF2-40B4-BE49-F238E27FC236}">
                <a16:creationId xmlns:a16="http://schemas.microsoft.com/office/drawing/2014/main" id="{B4836614-980B-4D9B-982E-2D6EA69C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57700"/>
            <a:ext cx="27241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472"/>
                </a:solidFill>
                <a:latin typeface="Helvetica Neue"/>
                <a:ea typeface="Helvetica Neue"/>
                <a:cs typeface="Helvetica Neue"/>
              </a:defRPr>
            </a:pPr>
            <a:r>
              <a:t>complete reset-to-evidence flows
112/112 each · 19 Jul 2026</a:t>
            </a:r>
          </a:p>
        </p:txBody>
      </p:sp>
    </p:spTree>
    <p:extLst>
      <p:ext uri="{BB962C8B-B14F-4D97-AF65-F5344CB8AC3E}">
        <p14:creationId xmlns:p14="http://schemas.microsoft.com/office/powerpoint/2010/main" val="10454527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948ED06D-144F-49B6-BAD7-11D551A0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THE OUTCOME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9E8AC241-2274-4161-8BE1-31000B10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03822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10121F"/>
                </a:solidFill>
                <a:latin typeface="Helvetica Neue"/>
                <a:ea typeface="Helvetica Neue"/>
                <a:cs typeface="Helvetica Neue"/>
              </a:defRPr>
            </a:pPr>
            <a:r>
              <a:t>Software should earn the right to say no.</a:t>
            </a:r>
          </a:p>
        </p:txBody>
      </p:sp>
      <p:sp>
        <p:nvSpPr>
          <p:cNvPr id="3" name="close-subtitle">
            <a:extLst xmlns:a="http://schemas.openxmlformats.org/drawingml/2006/main">
              <a:ext uri="{FF2B5EF4-FFF2-40B4-BE49-F238E27FC236}">
                <a16:creationId xmlns:a16="http://schemas.microsoft.com/office/drawing/2014/main" id="{4ACEFDFC-FD38-4614-840F-C79221BC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85725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D6472"/>
                </a:solidFill>
                <a:latin typeface="Helvetica Neue"/>
                <a:ea typeface="Helvetica Neue"/>
                <a:cs typeface="Helvetica Neue"/>
              </a:defRPr>
            </a:pPr>
            <a:r>
              <a:t>Niyam turns a silent rejection into a cited rule, a reviewable code repair, repeatable tests, two human approvals, and evidence anyone can verify.</a:t>
            </a:r>
          </a:p>
        </p:txBody>
      </p:sp>
      <p:sp>
        <p:nvSpPr>
          <p:cNvPr id="4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5E9C0375-8EF1-4E9D-B5B7-C8371ABA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00700"/>
            <a:ext cx="1390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e-chain">
            <a:extLst xmlns:a="http://schemas.openxmlformats.org/drawingml/2006/main">
              <a:ext uri="{FF2B5EF4-FFF2-40B4-BE49-F238E27FC236}">
                <a16:creationId xmlns:a16="http://schemas.microsoft.com/office/drawing/2014/main" id="{21800E43-0BBB-4771-9274-72725143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057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21F"/>
                </a:solidFill>
                <a:latin typeface="Helvetica Neue"/>
                <a:ea typeface="Helvetica Neue"/>
                <a:cs typeface="Helvetica Neue"/>
              </a:defRPr>
            </a:pPr>
            <a:r>
              <a:t>LIVE PRODUCT  d3rre9ztdq52vx.cloudfront.net    ·    PUBLIC SOURCE  github.com/Awowowow/niyam</a:t>
            </a:r>
          </a:p>
        </p:txBody>
      </p:sp>
      <p:sp>
        <p:nvSpPr>
          <p:cNvPr id="6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1A15D74F-C6FF-4DED-AA7D-A0331FBE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brand-7">
            <a:extLst xmlns:a="http://schemas.openxmlformats.org/drawingml/2006/main">
              <a:ext uri="{FF2B5EF4-FFF2-40B4-BE49-F238E27FC236}">
                <a16:creationId xmlns:a16="http://schemas.microsoft.com/office/drawing/2014/main" id="{CF1158BC-A835-4395-9321-C759A806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71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D6472"/>
                </a:solidFill>
                <a:latin typeface="Helvetica Neue"/>
                <a:ea typeface="Helvetica Neue"/>
                <a:cs typeface="Helvetica Neue"/>
              </a:defRPr>
            </a:pPr>
            <a:r>
              <a:t>NIYAM · HUMAN-APPROVED POLICY-TO-CODE VERIFICATION</a:t>
            </a:r>
          </a:p>
        </p:txBody>
      </p:sp>
      <p:sp>
        <p:nvSpPr>
          <p:cNvPr id="8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801F0265-A0F6-4258-B0EB-A6B03DDB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D6472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877605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2026-07-19T10:52:36.0430000Z</dcterms:created>
  <dcterms:modified xsi:type="dcterms:W3CDTF">2026-07-19T10:52:36.0430000Z</dcterms:modified>
</coreProperties>
</file>